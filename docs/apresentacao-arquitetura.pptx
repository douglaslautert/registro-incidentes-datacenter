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ba0ca52-dbbe-3290-fa62-f19d61da1abf}">
          <p14:sldIdLst>
            <p14:sldId id="256"/>
          </p14:sldIdLst>
        </p14:section>
        <p14:section name="Contexto" id="{2af4b0ca-9fa4-b932-3703-55362cfa1e18}">
          <p14:sldIdLst>
            <p14:sldId id="257"/>
            <p14:sldId id="258"/>
          </p14:sldIdLst>
        </p14:section>
        <p14:section name="Arquitetura" id="{ba173eac-829c-6af8-af6c-86297109de86}">
          <p14:sldIdLst>
            <p14:sldId id="259"/>
            <p14:sldId id="260"/>
            <p14:sldId id="261"/>
            <p14:sldId id="262"/>
            <p14:sldId id="263"/>
          </p14:sldIdLst>
        </p14:section>
        <p14:section name="Decisões" id="{5769ccc0-043f-e538-49cc-0325c81f74b3}">
          <p14:sldIdLst>
            <p14:sldId id="264"/>
            <p14:sldId id="265"/>
            <p14:sldId id="266"/>
          </p14:sldIdLst>
        </p14:section>
        <p14:section name="Próximos passos" id="{f95b28e0-472e-3457-3124-aad37b6a7e46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 arquitetura do sistema de registro de incidentes do datacenter, baseada em GLPI e Zabbix, instalada dentro da universidade.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não existe registro central de falhas. O horário real se perde, peças trocadas ficam em planilhas e não há como calcular o tempo de reparo nem justificar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 principais: chamado aberto em menos de 5 segundos, aviso ao plantão em menos de 1 minuto, redução de 20% no MTTR e custo zero em licenças.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monolitos bem definidos, GLPI e Zabbix, integrados por um único ponto. Microsserviços, mensageria, SaaS e desenvolvimento próprio foram descartados.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Zabbix monitora os equipamentos e, quando detecta uma falha, chama a API do GLPI por webhook HTTPS. O GLPI autentica pelo LDAP institucional e envia e-mails pelo servidor SMTP.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caminho que precisa funcionar sempre: detecção, trigger, webhook, chamado aberto e aviso ao plantão. Na recuperação o chamado é atualizado com o horário de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sistema tem um banco próprio e uma responsabilidade única. O Zabbix detecta, o GLPI registra. Eles só conversam pela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de infraestrutura são sensíveis. Login só pelo LDAP institucional, perfis mapeados a grupos, tráfego cifrado, rede fechada, segredos no Ansible Vault e auditoria nativa do GLPI.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seis decisões registradas. Cada uma tem trade-off aceito e alternativas descartadas documentadas no Master Doc.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VMs no cluster Proxmox existente. Toda a instalação é feita por playbooks Ansible e tudo fica versionado no Git, com backup diário e snapshot antes de cada atualização.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quatro riscos principais da matriz e a mitigação já prevista na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MVP entrega o valor central em cerca de quatro semanas. NetBox e IA vêm depois, cada um com pré-requisito claro.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Resumo: a arquitetura garante o registro automático e rápido das falhas, com custo zero de licença e dados dentro da universidade. Código e documentação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7772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Registro de Incidentes do Datacenter · Arquitetura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ouglaslautert/registro-incidentes-datacenter" TargetMode="Externa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5"/>
                </a:solidFill>
              </a:rPr>
              <a:t>ARQUITETURA DE SOLUÇÃO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Incidentes do Datacenter</a:t>
            </a:r>
            <a:endParaRPr lang="en-US" sz="5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GLPI + Zabbix · on-premises · monolítico modular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Universidade pública · v2.0 · outubro de 2026</a:t>
            </a:r>
            <a:endParaRPr lang="en-US" sz="1600" dirty="0"/>
          </a:p>
        </p:txBody>
      </p:sp>
      <p:sp>
        <p:nvSpPr>
          <p:cNvPr id="6" name="Capa circle"/>
          <p:cNvSpPr/>
          <p:nvPr/>
        </p:nvSpPr>
        <p:spPr>
          <a:xfrm>
            <a:off x="9052560" y="1920240"/>
            <a:ext cx="2560320" cy="2560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pa icon" descr="Cap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problema: falhas sem registro confiável</a:t>
            </a:r>
            <a:endParaRPr lang="en-US" sz="4000" dirty="0"/>
          </a:p>
        </p:txBody>
      </p:sp>
      <p:sp>
        <p:nvSpPr>
          <p:cNvPr id="3" name="Destaque"/>
          <p:cNvSpPr/>
          <p:nvPr/>
        </p:nvSpPr>
        <p:spPr>
          <a:xfrm>
            <a:off x="548640" y="155448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2024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um servidor cai, o horário real da falha se perde.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206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O técnico só registra quando chega ao equipamento.</a:t>
            </a:r>
            <a:endParaRPr lang="en-US" sz="2200" dirty="0"/>
          </a:p>
        </p:txBody>
      </p:sp>
      <p:sp>
        <p:nvSpPr>
          <p:cNvPr id="6" name="Sem horário real circle"/>
          <p:cNvSpPr/>
          <p:nvPr/>
        </p:nvSpPr>
        <p:spPr>
          <a:xfrm>
            <a:off x="5852160" y="164592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Sem horário real icon" descr="Sem horário re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874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040880" y="1554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Sem horário real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Impossível medir o tempo de reparo (MTTR)</a:t>
            </a:r>
            <a:endParaRPr lang="en-US" sz="2400" dirty="0"/>
          </a:p>
        </p:txBody>
      </p:sp>
      <p:sp>
        <p:nvSpPr>
          <p:cNvPr id="9" name="Peças em planilhas circle"/>
          <p:cNvSpPr/>
          <p:nvPr/>
        </p:nvSpPr>
        <p:spPr>
          <a:xfrm>
            <a:off x="5852160" y="310896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Peças em planilhas icon" descr="Peças em planilh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3337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301752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Peças em planilhas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Sem vínculo com o equipamento nem histórico</a:t>
            </a:r>
            <a:endParaRPr lang="en-US" sz="2400" dirty="0"/>
          </a:p>
        </p:txBody>
      </p:sp>
      <p:sp>
        <p:nvSpPr>
          <p:cNvPr id="12" name="Sem dados para decidir circle"/>
          <p:cNvSpPr/>
          <p:nvPr/>
        </p:nvSpPr>
        <p:spPr>
          <a:xfrm>
            <a:off x="5852160" y="45720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Sem dados para decidir icon" descr="Sem dados para decidi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8006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4480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Sem dados para decidir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Garantias e orçamento sem comprovação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que a arquitetura precisa cumprir</a:t>
            </a:r>
            <a:endParaRPr lang="en-US" sz="4000" dirty="0"/>
          </a:p>
        </p:txBody>
      </p:sp>
      <p:sp>
        <p:nvSpPr>
          <p:cNvPr id="3" name="Meta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194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da falha ao chamado aberto</a:t>
            </a:r>
            <a:endParaRPr lang="en-US" sz="2200" dirty="0"/>
          </a:p>
        </p:txBody>
      </p:sp>
      <p:sp>
        <p:nvSpPr>
          <p:cNvPr id="6" name="Meta 2"/>
          <p:cNvSpPr/>
          <p:nvPr/>
        </p:nvSpPr>
        <p:spPr>
          <a:xfrm>
            <a:off x="3367735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96335" y="2194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 s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3596335" y="35661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para o e-mail chegar ao plantão</a:t>
            </a:r>
            <a:endParaRPr lang="en-US" sz="2200" dirty="0"/>
          </a:p>
        </p:txBody>
      </p:sp>
      <p:sp>
        <p:nvSpPr>
          <p:cNvPr id="9" name="Meta 3"/>
          <p:cNvSpPr/>
          <p:nvPr/>
        </p:nvSpPr>
        <p:spPr>
          <a:xfrm>
            <a:off x="6186830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15430" y="2194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415430" y="35661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no tempo de reparo em 6 meses</a:t>
            </a:r>
            <a:endParaRPr lang="en-US" sz="2200" dirty="0"/>
          </a:p>
        </p:txBody>
      </p:sp>
      <p:sp>
        <p:nvSpPr>
          <p:cNvPr id="12" name="Meta 4"/>
          <p:cNvSpPr/>
          <p:nvPr/>
        </p:nvSpPr>
        <p:spPr>
          <a:xfrm>
            <a:off x="9005926" y="18288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234526" y="21945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R$ 0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9234526" y="35661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em licenças de software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Todos os dados ficam dentro da universidade: sem SaaS e com login institucional.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escolhido: monolítico modular</a:t>
            </a:r>
            <a:endParaRPr lang="en-US" sz="4000" dirty="0"/>
          </a:p>
        </p:txBody>
      </p:sp>
      <p:sp>
        <p:nvSpPr>
          <p:cNvPr id="3" name="Escolhido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accent5"/>
          </a:solidFill>
          <a:ln/>
        </p:spPr>
      </p:sp>
      <p:sp>
        <p:nvSpPr>
          <p:cNvPr id="4" name="Escolhido circle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scolhido icon" descr="Escolhi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802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874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ESCOLHIDO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8803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GLPI + Zabbix ligados por um único webhook HTTPS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519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Equipe pequena e domínio estável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APIs REST maduras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Zero custo de licença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3"/>
                </a:solidFill>
              </a:rPr>
              <a:t>DESCARTADOS</a:t>
            </a:r>
            <a:endParaRPr lang="en-US" sz="1800" dirty="0"/>
          </a:p>
        </p:txBody>
      </p:sp>
      <p:sp>
        <p:nvSpPr>
          <p:cNvPr id="10" name="Microsserviços circle"/>
          <p:cNvSpPr/>
          <p:nvPr/>
        </p:nvSpPr>
        <p:spPr>
          <a:xfrm>
            <a:off x="6400800" y="2304288"/>
            <a:ext cx="548640" cy="5486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1" name="Microsserviços icon" descr="Microsserviç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4414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945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Microsserviços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Operação pesada demais para a equipe</a:t>
            </a:r>
            <a:endParaRPr lang="en-US" sz="2200" dirty="0"/>
          </a:p>
        </p:txBody>
      </p:sp>
      <p:sp>
        <p:nvSpPr>
          <p:cNvPr id="13" name="Mensageria (Kafka) circle"/>
          <p:cNvSpPr/>
          <p:nvPr/>
        </p:nvSpPr>
        <p:spPr>
          <a:xfrm>
            <a:off x="6400800" y="3282696"/>
            <a:ext cx="548640" cy="5486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4" name="Mensageria (Kafka) icon" descr="Mensageria (Kafka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419856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78040" y="317296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Mensageria (Kafka)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O webhook já atende em &lt; 5 s</a:t>
            </a:r>
            <a:endParaRPr lang="en-US" sz="2200" dirty="0"/>
          </a:p>
        </p:txBody>
      </p:sp>
      <p:sp>
        <p:nvSpPr>
          <p:cNvPr id="16" name="SaaS circle"/>
          <p:cNvSpPr/>
          <p:nvPr/>
        </p:nvSpPr>
        <p:spPr>
          <a:xfrm>
            <a:off x="6400800" y="4261104"/>
            <a:ext cx="548640" cy="5486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7" name="SaaS icon" descr="Sa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9826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41513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SaaS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Dados sairiam da universidade</a:t>
            </a:r>
            <a:endParaRPr lang="en-US" sz="2200" dirty="0"/>
          </a:p>
        </p:txBody>
      </p:sp>
      <p:sp>
        <p:nvSpPr>
          <p:cNvPr id="19" name="Sistema próprio circle"/>
          <p:cNvSpPr/>
          <p:nvPr/>
        </p:nvSpPr>
        <p:spPr>
          <a:xfrm>
            <a:off x="6400800" y="5239512"/>
            <a:ext cx="548640" cy="54864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0" name="Sistema próprio icon" descr="Sistema própr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537667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178040" y="512978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Sistema próprio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O GLPI já atende 72% dos campos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da arquitetura</a:t>
            </a:r>
            <a:endParaRPr lang="en-US" sz="4000" dirty="0"/>
          </a:p>
        </p:txBody>
      </p:sp>
      <p:sp>
        <p:nvSpPr>
          <p:cNvPr id="3" name="Equipamentos"/>
          <p:cNvSpPr/>
          <p:nvPr/>
        </p:nvSpPr>
        <p:spPr>
          <a:xfrm>
            <a:off x="548640" y="1600200"/>
            <a:ext cx="2011680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Equipamentos circle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Equipamentos icon" descr="Equipa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Ativos</a:t>
            </a:r>
            <a:endParaRPr lang="en-US" sz="2000" dirty="0"/>
          </a:p>
        </p:txBody>
      </p:sp>
      <p:sp>
        <p:nvSpPr>
          <p:cNvPr id="7" name="Equipamentos item 1"/>
          <p:cNvSpPr/>
          <p:nvPr/>
        </p:nvSpPr>
        <p:spPr>
          <a:xfrm>
            <a:off x="777240" y="2697480"/>
            <a:ext cx="1554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697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Servidores</a:t>
            </a:r>
            <a:endParaRPr lang="en-US" sz="1800" dirty="0"/>
          </a:p>
        </p:txBody>
      </p:sp>
      <p:sp>
        <p:nvSpPr>
          <p:cNvPr id="9" name="Equipamentos item 2"/>
          <p:cNvSpPr/>
          <p:nvPr/>
        </p:nvSpPr>
        <p:spPr>
          <a:xfrm>
            <a:off x="777240" y="3300984"/>
            <a:ext cx="15544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30098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Switches</a:t>
            </a:r>
            <a:endParaRPr lang="en-US" sz="1800" dirty="0"/>
          </a:p>
        </p:txBody>
      </p:sp>
      <p:sp>
        <p:nvSpPr>
          <p:cNvPr id="11" name="Seta coleta"/>
          <p:cNvSpPr/>
          <p:nvPr/>
        </p:nvSpPr>
        <p:spPr>
          <a:xfrm>
            <a:off x="2633472" y="3108960"/>
            <a:ext cx="72237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560320" y="2148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SNMP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ICMP</a:t>
            </a:r>
            <a:endParaRPr lang="en-US" sz="1500" dirty="0"/>
          </a:p>
        </p:txBody>
      </p:sp>
      <p:sp>
        <p:nvSpPr>
          <p:cNvPr id="13" name="VM Zabbix"/>
          <p:cNvSpPr/>
          <p:nvPr/>
        </p:nvSpPr>
        <p:spPr>
          <a:xfrm>
            <a:off x="342900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VM Zabbix circle"/>
          <p:cNvSpPr/>
          <p:nvPr/>
        </p:nvSpPr>
        <p:spPr>
          <a:xfrm>
            <a:off x="365760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VM Zabbix icon" descr="VM Zabb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198882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8912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VM-ZABBIX</a:t>
            </a:r>
            <a:endParaRPr lang="en-US" sz="2000" dirty="0"/>
          </a:p>
        </p:txBody>
      </p:sp>
      <p:sp>
        <p:nvSpPr>
          <p:cNvPr id="17" name="VM Zabbix item 1"/>
          <p:cNvSpPr/>
          <p:nvPr/>
        </p:nvSpPr>
        <p:spPr>
          <a:xfrm>
            <a:off x="3657600" y="2697480"/>
            <a:ext cx="22860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794760" y="2697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Zabbix Server</a:t>
            </a:r>
            <a:endParaRPr lang="en-US" sz="1800" dirty="0"/>
          </a:p>
        </p:txBody>
      </p:sp>
      <p:sp>
        <p:nvSpPr>
          <p:cNvPr id="19" name="VM Zabbix item 2"/>
          <p:cNvSpPr/>
          <p:nvPr/>
        </p:nvSpPr>
        <p:spPr>
          <a:xfrm>
            <a:off x="3657600" y="3300984"/>
            <a:ext cx="22860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794760" y="33009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21" name="Seta webhook"/>
          <p:cNvSpPr/>
          <p:nvPr/>
        </p:nvSpPr>
        <p:spPr>
          <a:xfrm>
            <a:off x="6245352" y="3108960"/>
            <a:ext cx="85953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18"/>
          <p:cNvSpPr txBox="1"/>
          <p:nvPr/>
        </p:nvSpPr>
        <p:spPr>
          <a:xfrm>
            <a:off x="6172200" y="214884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Webhook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HTTPS</a:t>
            </a:r>
            <a:endParaRPr lang="en-US" sz="1500" dirty="0"/>
          </a:p>
        </p:txBody>
      </p:sp>
      <p:sp>
        <p:nvSpPr>
          <p:cNvPr id="23" name="VM GLPI"/>
          <p:cNvSpPr/>
          <p:nvPr/>
        </p:nvSpPr>
        <p:spPr>
          <a:xfrm>
            <a:off x="7178040" y="1600200"/>
            <a:ext cx="2743200" cy="3017520"/>
          </a:xfrm>
          <a:prstGeom prst="roundRect">
            <a:avLst>
              <a:gd name="adj" fmla="val 4000"/>
            </a:avLst>
          </a:prstGeom>
          <a:solidFill>
            <a:schemeClr val="accent5"/>
          </a:solidFill>
          <a:ln/>
        </p:spPr>
      </p:sp>
      <p:sp>
        <p:nvSpPr>
          <p:cNvPr id="24" name="VM GLPI circle"/>
          <p:cNvSpPr/>
          <p:nvPr/>
        </p:nvSpPr>
        <p:spPr>
          <a:xfrm>
            <a:off x="74066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VM GLPI icon" descr="VM GL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1988820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138160" y="1828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VM-GLPI</a:t>
            </a:r>
            <a:endParaRPr lang="en-US" sz="2000" dirty="0"/>
          </a:p>
        </p:txBody>
      </p:sp>
      <p:sp>
        <p:nvSpPr>
          <p:cNvPr id="27" name="VM GLPI item 1"/>
          <p:cNvSpPr/>
          <p:nvPr/>
        </p:nvSpPr>
        <p:spPr>
          <a:xfrm>
            <a:off x="7406640" y="2697480"/>
            <a:ext cx="22860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543800" y="269748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GLPI Web App</a:t>
            </a:r>
            <a:endParaRPr lang="en-US" sz="1800" dirty="0"/>
          </a:p>
        </p:txBody>
      </p:sp>
      <p:sp>
        <p:nvSpPr>
          <p:cNvPr id="29" name="VM GLPI item 2"/>
          <p:cNvSpPr/>
          <p:nvPr/>
        </p:nvSpPr>
        <p:spPr>
          <a:xfrm>
            <a:off x="7406640" y="3300984"/>
            <a:ext cx="22860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543800" y="33009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MariaDB</a:t>
            </a:r>
            <a:endParaRPr lang="en-US" sz="1800" dirty="0"/>
          </a:p>
        </p:txBody>
      </p:sp>
      <p:sp>
        <p:nvSpPr>
          <p:cNvPr id="31" name="VM GLPI item 3"/>
          <p:cNvSpPr/>
          <p:nvPr/>
        </p:nvSpPr>
        <p:spPr>
          <a:xfrm>
            <a:off x="7406640" y="3904488"/>
            <a:ext cx="228600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543800" y="390448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Anexos 500 GB</a:t>
            </a:r>
            <a:endParaRPr lang="en-US" sz="1800" dirty="0"/>
          </a:p>
        </p:txBody>
      </p:sp>
      <p:sp>
        <p:nvSpPr>
          <p:cNvPr id="33" name="Seta usuarios"/>
          <p:cNvSpPr/>
          <p:nvPr/>
        </p:nvSpPr>
        <p:spPr>
          <a:xfrm>
            <a:off x="9994392" y="3108960"/>
            <a:ext cx="40233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Text 29"/>
          <p:cNvSpPr txBox="1"/>
          <p:nvPr/>
        </p:nvSpPr>
        <p:spPr>
          <a:xfrm>
            <a:off x="9921240" y="2148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5" name="Usuarios"/>
          <p:cNvSpPr/>
          <p:nvPr/>
        </p:nvSpPr>
        <p:spPr>
          <a:xfrm>
            <a:off x="10469880" y="1600200"/>
            <a:ext cx="1188720" cy="30175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36" name="Usuarios circle"/>
          <p:cNvSpPr/>
          <p:nvPr/>
        </p:nvSpPr>
        <p:spPr>
          <a:xfrm>
            <a:off x="1074420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Usuarios icon" descr="Usuari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4220" y="2080260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515600" y="2743200"/>
            <a:ext cx="1097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Técnicos e gestor</a:t>
            </a:r>
            <a:endParaRPr lang="en-US" sz="1800" dirty="0"/>
          </a:p>
        </p:txBody>
      </p:sp>
      <p:sp>
        <p:nvSpPr>
          <p:cNvPr id="39" name="Linha LDAP · porta 636"/>
          <p:cNvSpPr/>
          <p:nvPr/>
        </p:nvSpPr>
        <p:spPr>
          <a:xfrm>
            <a:off x="7927848" y="4617720"/>
            <a:ext cx="0" cy="4114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0" name="LDAP · porta 636"/>
          <p:cNvSpPr/>
          <p:nvPr/>
        </p:nvSpPr>
        <p:spPr>
          <a:xfrm>
            <a:off x="7178040" y="5029200"/>
            <a:ext cx="15087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78040" y="502920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LDAP · porta 636</a:t>
            </a:r>
            <a:endParaRPr lang="en-US" sz="1500" dirty="0"/>
          </a:p>
        </p:txBody>
      </p:sp>
      <p:sp>
        <p:nvSpPr>
          <p:cNvPr id="42" name="Linha E-mail · porta 587"/>
          <p:cNvSpPr/>
          <p:nvPr/>
        </p:nvSpPr>
        <p:spPr>
          <a:xfrm>
            <a:off x="9573768" y="4617720"/>
            <a:ext cx="0" cy="4114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3" name="E-mail · porta 587"/>
          <p:cNvSpPr/>
          <p:nvPr/>
        </p:nvSpPr>
        <p:spPr>
          <a:xfrm>
            <a:off x="8823960" y="5029200"/>
            <a:ext cx="15087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823960" y="5029200"/>
            <a:ext cx="15087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E-mail · porta 587</a:t>
            </a:r>
            <a:endParaRPr lang="en-US" sz="15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257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chemeClr val="tx2"/>
                </a:solidFill>
              </a:rPr>
              <a:t>Ponto único de integração: o Zabbix chama a API do GLPI.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crítico: da falha ao chamado</a:t>
            </a:r>
            <a:endParaRPr lang="en-US" sz="4000" dirty="0"/>
          </a:p>
        </p:txBody>
      </p:sp>
      <p:sp>
        <p:nvSpPr>
          <p:cNvPr id="3" name="Linha do tempo"/>
          <p:cNvSpPr/>
          <p:nvPr/>
        </p:nvSpPr>
        <p:spPr>
          <a:xfrm>
            <a:off x="1655064" y="2240280"/>
            <a:ext cx="8851392" cy="0"/>
          </a:xfrm>
          <a:prstGeom prst="line">
            <a:avLst/>
          </a:prstGeom>
          <a:noFill/>
          <a:ln w="50800">
            <a:solidFill>
              <a:schemeClr val="bg2"/>
            </a:solidFill>
            <a:prstDash val="solid"/>
          </a:ln>
        </p:spPr>
      </p:sp>
      <p:sp>
        <p:nvSpPr>
          <p:cNvPr id="4" name="Falha detectada circle"/>
          <p:cNvSpPr/>
          <p:nvPr/>
        </p:nvSpPr>
        <p:spPr>
          <a:xfrm>
            <a:off x="1106424" y="16916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Falha detectada icon" descr="Falha detect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19659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06424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Falha detectada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Coleta via SNMP</a:t>
            </a:r>
            <a:endParaRPr lang="en-US" sz="2200" dirty="0"/>
          </a:p>
        </p:txBody>
      </p:sp>
      <p:sp>
        <p:nvSpPr>
          <p:cNvPr id="8" name="Trigger dispara circle"/>
          <p:cNvSpPr/>
          <p:nvPr/>
        </p:nvSpPr>
        <p:spPr>
          <a:xfrm>
            <a:off x="3319272" y="16916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Trigger dispara icon" descr="Trigger dispa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9659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19272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2852928" y="342900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Trigger dispara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Severidade avaliada</a:t>
            </a:r>
            <a:endParaRPr lang="en-US" sz="2200" dirty="0"/>
          </a:p>
        </p:txBody>
      </p:sp>
      <p:sp>
        <p:nvSpPr>
          <p:cNvPr id="12" name="Webhook envia circle"/>
          <p:cNvSpPr/>
          <p:nvPr/>
        </p:nvSpPr>
        <p:spPr>
          <a:xfrm>
            <a:off x="5532120" y="1691640"/>
            <a:ext cx="1097280" cy="10972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Webhook envia icon" descr="Webhook env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659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5065776" y="342900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Webhook envia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POST na API do GLPI</a:t>
            </a:r>
            <a:endParaRPr lang="en-US" sz="2200" dirty="0"/>
          </a:p>
        </p:txBody>
      </p:sp>
      <p:sp>
        <p:nvSpPr>
          <p:cNvPr id="16" name="Chamado aberto circle"/>
          <p:cNvSpPr/>
          <p:nvPr/>
        </p:nvSpPr>
        <p:spPr>
          <a:xfrm>
            <a:off x="7744968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hamado aberto icon" descr="Chamado abert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288" y="19659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44968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278624" y="342900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Chamado aberto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Em &lt; 5 s, com horário</a:t>
            </a:r>
            <a:endParaRPr lang="en-US" sz="2200" dirty="0"/>
          </a:p>
        </p:txBody>
      </p:sp>
      <p:sp>
        <p:nvSpPr>
          <p:cNvPr id="20" name="Plantão avisado circle"/>
          <p:cNvSpPr/>
          <p:nvPr/>
        </p:nvSpPr>
        <p:spPr>
          <a:xfrm>
            <a:off x="9957816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lantão avisado icon" descr="Plantão avisa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2136" y="19659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957816" y="2926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491472" y="3429000"/>
            <a:ext cx="2029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Plantão avisado</a:t>
            </a:r>
            <a:endParaRPr lang="en-US" sz="22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E-mail em &lt; 60 s</a:t>
            </a:r>
            <a:endParaRPr lang="en-US" sz="2200" dirty="0"/>
          </a:p>
        </p:txBody>
      </p:sp>
      <p:sp>
        <p:nvSpPr>
          <p:cNvPr id="24" name="Recuperacao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Na recuperação,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 chamado recebe o horário de fim.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 o GLPI não responder,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 webhook tenta de novo 3 vezes, a cada 60 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ferramenta com um papel claro</a:t>
            </a:r>
            <a:endParaRPr lang="en-US" sz="4000" dirty="0"/>
          </a:p>
        </p:txBody>
      </p:sp>
      <p:sp>
        <p:nvSpPr>
          <p:cNvPr id="3" name="Zabbix"/>
          <p:cNvSpPr/>
          <p:nvPr/>
        </p:nvSpPr>
        <p:spPr>
          <a:xfrm>
            <a:off x="548640" y="1554480"/>
            <a:ext cx="493776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Zabbix circle"/>
          <p:cNvSpPr/>
          <p:nvPr/>
        </p:nvSpPr>
        <p:spPr>
          <a:xfrm>
            <a:off x="91440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Zabbix icon" descr="Zabbi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Zabbix</a:t>
            </a:r>
            <a:endParaRPr lang="en-US" sz="28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Detecta e mede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10896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Monitora os equipamentos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Avalia triggers de falha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Dispara o webhook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663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Não guarda histórico de manutenção</a:t>
            </a:r>
            <a:endParaRPr lang="en-US" sz="1800" dirty="0"/>
          </a:p>
        </p:txBody>
      </p:sp>
      <p:sp>
        <p:nvSpPr>
          <p:cNvPr id="9" name="GLPI"/>
          <p:cNvSpPr/>
          <p:nvPr/>
        </p:nvSpPr>
        <p:spPr>
          <a:xfrm>
            <a:off x="6675120" y="1554480"/>
            <a:ext cx="4937760" cy="4023360"/>
          </a:xfrm>
          <a:prstGeom prst="roundRect">
            <a:avLst>
              <a:gd name="adj" fmla="val 2727"/>
            </a:avLst>
          </a:prstGeom>
          <a:solidFill>
            <a:schemeClr val="accent5"/>
          </a:solidFill>
          <a:ln/>
        </p:spPr>
      </p:sp>
      <p:sp>
        <p:nvSpPr>
          <p:cNvPr id="10" name="GLPI circle"/>
          <p:cNvSpPr/>
          <p:nvPr/>
        </p:nvSpPr>
        <p:spPr>
          <a:xfrm>
            <a:off x="7040880" y="18745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LPI icon" descr="GL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1031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38160" y="18288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GLPI</a:t>
            </a:r>
            <a:endParaRPr lang="en-US" sz="28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Registra e gerencia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7040880" y="310896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Chamados, ativos e peças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Fotos, laudos e causa raiz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Relatórios e tempo de reparo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040880" y="46634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3"/>
                </a:solidFill>
              </a:rPr>
              <a:t>Não coleta métricas</a:t>
            </a:r>
            <a:endParaRPr lang="en-US" sz="1800" dirty="0"/>
          </a:p>
        </p:txBody>
      </p:sp>
      <p:sp>
        <p:nvSpPr>
          <p:cNvPr id="15" name="Integracao circle"/>
          <p:cNvSpPr/>
          <p:nvPr/>
        </p:nvSpPr>
        <p:spPr>
          <a:xfrm>
            <a:off x="5715000" y="33832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ntegracao icon" descr="Integraca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310" y="357759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86400" y="4206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webhook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 em camadas</a:t>
            </a:r>
            <a:endParaRPr lang="en-US" sz="4000" dirty="0"/>
          </a:p>
        </p:txBody>
      </p:sp>
      <p:sp>
        <p:nvSpPr>
          <p:cNvPr id="3" name="Login institucional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Login institucional circle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Login institucional icon" descr="Login institucio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0688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Login institucional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LDAPS, sem contas locais</a:t>
            </a:r>
            <a:endParaRPr lang="en-US" sz="2200" dirty="0"/>
          </a:p>
        </p:txBody>
      </p:sp>
      <p:sp>
        <p:nvSpPr>
          <p:cNvPr id="7" name="Perfis de acesso"/>
          <p:cNvSpPr/>
          <p:nvPr/>
        </p:nvSpPr>
        <p:spPr>
          <a:xfrm>
            <a:off x="429768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8" name="Perfis de acesso circle"/>
          <p:cNvSpPr/>
          <p:nvPr/>
        </p:nvSpPr>
        <p:spPr>
          <a:xfrm>
            <a:off x="4572000" y="1874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Perfis de acesso icon" descr="Perfis de ace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206883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Perfis de acesso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Técnico, Gestor, Leitura</a:t>
            </a:r>
            <a:endParaRPr lang="en-US" sz="2200" dirty="0"/>
          </a:p>
        </p:txBody>
      </p:sp>
      <p:sp>
        <p:nvSpPr>
          <p:cNvPr id="11" name="Tráfego cifrado"/>
          <p:cNvSpPr/>
          <p:nvPr/>
        </p:nvSpPr>
        <p:spPr>
          <a:xfrm>
            <a:off x="804672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2" name="Tráfego cifrado circle"/>
          <p:cNvSpPr/>
          <p:nvPr/>
        </p:nvSpPr>
        <p:spPr>
          <a:xfrm>
            <a:off x="8321040" y="187452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Tráfego cifrado icon" descr="Tráfego cifr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206883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27432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Tráfego cifrado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TLS 1.2+ em tudo</a:t>
            </a:r>
            <a:endParaRPr lang="en-US" sz="2200" dirty="0"/>
          </a:p>
        </p:txBody>
      </p:sp>
      <p:sp>
        <p:nvSpPr>
          <p:cNvPr id="15" name="Perímetro fechado"/>
          <p:cNvSpPr/>
          <p:nvPr/>
        </p:nvSpPr>
        <p:spPr>
          <a:xfrm>
            <a:off x="54864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6" name="Perímetro fechado circle"/>
          <p:cNvSpPr/>
          <p:nvPr/>
        </p:nvSpPr>
        <p:spPr>
          <a:xfrm>
            <a:off x="822960" y="4251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Perímetro fechado icon" descr="Perímetro fecha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44627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Perímetro fechado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Rede interna ou VPN</a:t>
            </a:r>
            <a:endParaRPr lang="en-US" sz="2200" dirty="0"/>
          </a:p>
        </p:txBody>
      </p:sp>
      <p:sp>
        <p:nvSpPr>
          <p:cNvPr id="19" name="Segredos protegidos"/>
          <p:cNvSpPr/>
          <p:nvPr/>
        </p:nvSpPr>
        <p:spPr>
          <a:xfrm>
            <a:off x="42976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0" name="Segredos protegidos circle"/>
          <p:cNvSpPr/>
          <p:nvPr/>
        </p:nvSpPr>
        <p:spPr>
          <a:xfrm>
            <a:off x="4572000" y="4251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Segredos protegidos icon" descr="Segredos protegi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10" y="4446270"/>
            <a:ext cx="388620" cy="3886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7200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Segredos protegidos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Ansible Vault, fora do Git</a:t>
            </a:r>
            <a:endParaRPr lang="en-US" sz="2200" dirty="0"/>
          </a:p>
        </p:txBody>
      </p:sp>
      <p:sp>
        <p:nvSpPr>
          <p:cNvPr id="23" name="Auditoria"/>
          <p:cNvSpPr/>
          <p:nvPr/>
        </p:nvSpPr>
        <p:spPr>
          <a:xfrm>
            <a:off x="804672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Auditoria circle"/>
          <p:cNvSpPr/>
          <p:nvPr/>
        </p:nvSpPr>
        <p:spPr>
          <a:xfrm>
            <a:off x="8321040" y="4251960"/>
            <a:ext cx="777240" cy="7772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Auditoria icon" descr="Auditori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5350" y="4446270"/>
            <a:ext cx="388620" cy="3886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21040" y="51206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Auditoria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Quem, o quê e quando · LGPD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de arquitetura (ADRs)</a:t>
            </a:r>
            <a:endParaRPr lang="en-US" sz="4000" dirty="0"/>
          </a:p>
        </p:txBody>
      </p:sp>
      <p:sp>
        <p:nvSpPr>
          <p:cNvPr id="3" name="ADR-01"/>
          <p:cNvSpPr/>
          <p:nvPr/>
        </p:nvSpPr>
        <p:spPr>
          <a:xfrm>
            <a:off x="548640" y="15544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4" name="ADR-01 badge"/>
          <p:cNvSpPr/>
          <p:nvPr/>
        </p:nvSpPr>
        <p:spPr>
          <a:xfrm>
            <a:off x="777240" y="182880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6459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GLPI como sistema de registro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Zero licença e 72% dos campos prontos</a:t>
            </a:r>
            <a:endParaRPr lang="en-US" sz="2100" dirty="0"/>
          </a:p>
        </p:txBody>
      </p:sp>
      <p:sp>
        <p:nvSpPr>
          <p:cNvPr id="7" name="ADR-02"/>
          <p:cNvSpPr/>
          <p:nvPr/>
        </p:nvSpPr>
        <p:spPr>
          <a:xfrm>
            <a:off x="6172200" y="155448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ADR-02 badge"/>
          <p:cNvSpPr/>
          <p:nvPr/>
        </p:nvSpPr>
        <p:spPr>
          <a:xfrm>
            <a:off x="6400800" y="182880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0" y="1828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6459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Webhook síncrono Zabbix → GLPI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Chamado em &lt; 5 s, com novas tentativas</a:t>
            </a:r>
            <a:endParaRPr lang="en-US" sz="2100" dirty="0"/>
          </a:p>
        </p:txBody>
      </p:sp>
      <p:sp>
        <p:nvSpPr>
          <p:cNvPr id="11" name="ADR-03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ADR-03 badge"/>
          <p:cNvSpPr/>
          <p:nvPr/>
        </p:nvSpPr>
        <p:spPr>
          <a:xfrm>
            <a:off x="777240" y="329184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291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1089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Um banco por ferramenta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Atualizações e rollback independentes</a:t>
            </a:r>
            <a:endParaRPr lang="en-US" sz="2100" dirty="0"/>
          </a:p>
        </p:txBody>
      </p:sp>
      <p:sp>
        <p:nvSpPr>
          <p:cNvPr id="15" name="ADR-04"/>
          <p:cNvSpPr/>
          <p:nvPr/>
        </p:nvSpPr>
        <p:spPr>
          <a:xfrm>
            <a:off x="617220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ADR-04 badge"/>
          <p:cNvSpPr/>
          <p:nvPr/>
        </p:nvSpPr>
        <p:spPr>
          <a:xfrm>
            <a:off x="6400800" y="329184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32918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10896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Anexos em disco local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500 GB; MinIO se passar de 400 GB</a:t>
            </a:r>
            <a:endParaRPr lang="en-US" sz="2100" dirty="0"/>
          </a:p>
        </p:txBody>
      </p:sp>
      <p:sp>
        <p:nvSpPr>
          <p:cNvPr id="19" name="ADR-05"/>
          <p:cNvSpPr/>
          <p:nvPr/>
        </p:nvSpPr>
        <p:spPr>
          <a:xfrm>
            <a:off x="548640" y="44805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0" name="ADR-05 badge"/>
          <p:cNvSpPr/>
          <p:nvPr/>
        </p:nvSpPr>
        <p:spPr>
          <a:xfrm>
            <a:off x="777240" y="4754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754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45720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NetBox na Fase 2, IA na Fase 3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IA só com Ollama local ou aval formal</a:t>
            </a:r>
            <a:endParaRPr lang="en-US" sz="2100" dirty="0"/>
          </a:p>
        </p:txBody>
      </p:sp>
      <p:sp>
        <p:nvSpPr>
          <p:cNvPr id="23" name="ADR-06"/>
          <p:cNvSpPr/>
          <p:nvPr/>
        </p:nvSpPr>
        <p:spPr>
          <a:xfrm>
            <a:off x="6172200" y="4480560"/>
            <a:ext cx="5440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ADR-06 badge"/>
          <p:cNvSpPr/>
          <p:nvPr/>
        </p:nvSpPr>
        <p:spPr>
          <a:xfrm>
            <a:off x="6400800" y="4754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4754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543800" y="45720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On-premises em 2 VMs Proxmox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</a:rPr>
              <a:t>Os dados ficam na universidade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e operação</a:t>
            </a:r>
            <a:endParaRPr lang="en-US" sz="4000" dirty="0"/>
          </a:p>
        </p:txBody>
      </p:sp>
      <p:sp>
        <p:nvSpPr>
          <p:cNvPr id="3" name="Cluster Proxmox"/>
          <p:cNvSpPr/>
          <p:nvPr/>
        </p:nvSpPr>
        <p:spPr>
          <a:xfrm>
            <a:off x="548640" y="155448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5"/>
                </a:solidFill>
              </a:rPr>
              <a:t>CLUSTER PROXMOX</a:t>
            </a:r>
            <a:endParaRPr lang="en-US" sz="1800" dirty="0"/>
          </a:p>
        </p:txBody>
      </p:sp>
      <p:sp>
        <p:nvSpPr>
          <p:cNvPr id="5" name="VM-ZABBIX"/>
          <p:cNvSpPr/>
          <p:nvPr/>
        </p:nvSpPr>
        <p:spPr>
          <a:xfrm>
            <a:off x="914400" y="25146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5146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VM-ZABBIX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4 vCPU · 8 GB · 100 GB SSD</a:t>
            </a:r>
            <a:endParaRPr lang="en-US" sz="2400" dirty="0"/>
          </a:p>
        </p:txBody>
      </p:sp>
      <p:sp>
        <p:nvSpPr>
          <p:cNvPr id="7" name="VM-GLPI"/>
          <p:cNvSpPr/>
          <p:nvPr/>
        </p:nvSpPr>
        <p:spPr>
          <a:xfrm>
            <a:off x="914400" y="411480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41148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VM-GLPI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Já existente · MariaDB</a:t>
            </a:r>
            <a:endParaRPr lang="en-US" sz="2400" dirty="0"/>
          </a:p>
        </p:txBody>
      </p:sp>
      <p:sp>
        <p:nvSpPr>
          <p:cNvPr id="9" name="Deploy só com Ansible circle"/>
          <p:cNvSpPr/>
          <p:nvPr/>
        </p:nvSpPr>
        <p:spPr>
          <a:xfrm>
            <a:off x="5760720" y="169164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Deploy só com Ansible icon" descr="Deploy só com Ansi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885950"/>
            <a:ext cx="388620" cy="3886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766560" y="160020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Deploy só com Ansible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Nenhum acesso manual em produção</a:t>
            </a:r>
            <a:endParaRPr lang="en-US" sz="2200" dirty="0"/>
          </a:p>
        </p:txBody>
      </p:sp>
      <p:sp>
        <p:nvSpPr>
          <p:cNvPr id="12" name="Backup diário às 02h circle"/>
          <p:cNvSpPr/>
          <p:nvPr/>
        </p:nvSpPr>
        <p:spPr>
          <a:xfrm>
            <a:off x="5760720" y="2807208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Backup diário às 02h icon" descr="Backup diário às 02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001518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66560" y="271576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Backup diário às 02h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RTO 4 h · RPO 24 h · cópia externa</a:t>
            </a:r>
            <a:endParaRPr lang="en-US" sz="2200" dirty="0"/>
          </a:p>
        </p:txBody>
      </p:sp>
      <p:sp>
        <p:nvSpPr>
          <p:cNvPr id="15" name="Snapshot antes de atualizar circle"/>
          <p:cNvSpPr/>
          <p:nvPr/>
        </p:nvSpPr>
        <p:spPr>
          <a:xfrm>
            <a:off x="5760720" y="3922776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Snapshot antes de atualizar icon" descr="Snapshot antes de atualiz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117086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66560" y="383133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Snapshot antes de atualizar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Rollback rápido no Proxmox</a:t>
            </a:r>
            <a:endParaRPr lang="en-US" sz="2200" dirty="0"/>
          </a:p>
        </p:txBody>
      </p:sp>
      <p:sp>
        <p:nvSpPr>
          <p:cNvPr id="18" name="Tudo versionado no Git circle"/>
          <p:cNvSpPr/>
          <p:nvPr/>
        </p:nvSpPr>
        <p:spPr>
          <a:xfrm>
            <a:off x="5760720" y="5038344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9" name="Tudo versionado no Git icon" descr="Tudo versionado no Gi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30" y="5232654"/>
            <a:ext cx="388620" cy="3886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66560" y="494690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Tudo versionado no Git</a:t>
            </a:r>
            <a:endParaRPr lang="en-US" sz="22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Ambiente refeito em &lt; 2 h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principais e como mitigamos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201168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RISCO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4"/>
                </a:solidFill>
              </a:rPr>
              <a:t>MITIGAÇÃO</a:t>
            </a:r>
            <a:endParaRPr lang="en-US" sz="1600" dirty="0"/>
          </a:p>
        </p:txBody>
      </p:sp>
      <p:sp>
        <p:nvSpPr>
          <p:cNvPr id="5" name="Risco 1"/>
          <p:cNvSpPr/>
          <p:nvPr/>
        </p:nvSpPr>
        <p:spPr>
          <a:xfrm>
            <a:off x="548640" y="1920240"/>
            <a:ext cx="11064240" cy="941832"/>
          </a:xfrm>
          <a:prstGeom prst="roundRect">
            <a:avLst>
              <a:gd name="adj" fmla="val 11650"/>
            </a:avLst>
          </a:prstGeom>
          <a:solidFill>
            <a:schemeClr val="bg2"/>
          </a:solidFill>
          <a:ln/>
        </p:spPr>
      </p:sp>
      <p:sp>
        <p:nvSpPr>
          <p:cNvPr id="6" name="Nivel 1"/>
          <p:cNvSpPr/>
          <p:nvPr/>
        </p:nvSpPr>
        <p:spPr>
          <a:xfrm>
            <a:off x="731520" y="2139696"/>
            <a:ext cx="10972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3969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920240"/>
            <a:ext cx="4297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Webhook falha em silêncio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1920240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3 novas tentativas e alerta em 30 s</a:t>
            </a:r>
            <a:endParaRPr lang="en-US" sz="1800" dirty="0"/>
          </a:p>
        </p:txBody>
      </p:sp>
      <p:sp>
        <p:nvSpPr>
          <p:cNvPr id="10" name="Risco 2"/>
          <p:cNvSpPr/>
          <p:nvPr/>
        </p:nvSpPr>
        <p:spPr>
          <a:xfrm>
            <a:off x="548640" y="2999232"/>
            <a:ext cx="11064240" cy="941832"/>
          </a:xfrm>
          <a:prstGeom prst="roundRect">
            <a:avLst>
              <a:gd name="adj" fmla="val 11650"/>
            </a:avLst>
          </a:prstGeom>
          <a:solidFill>
            <a:schemeClr val="bg1"/>
          </a:solidFill>
          <a:ln/>
        </p:spPr>
      </p:sp>
      <p:sp>
        <p:nvSpPr>
          <p:cNvPr id="11" name="Nivel 2"/>
          <p:cNvSpPr/>
          <p:nvPr/>
        </p:nvSpPr>
        <p:spPr>
          <a:xfrm>
            <a:off x="731520" y="3218688"/>
            <a:ext cx="10972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18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Alto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999232"/>
            <a:ext cx="4297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Só uma pessoa conhece a configuração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999232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Tudo no Git e runbook completo</a:t>
            </a:r>
            <a:endParaRPr lang="en-US" sz="1800" dirty="0"/>
          </a:p>
        </p:txBody>
      </p:sp>
      <p:sp>
        <p:nvSpPr>
          <p:cNvPr id="15" name="Risco 3"/>
          <p:cNvSpPr/>
          <p:nvPr/>
        </p:nvSpPr>
        <p:spPr>
          <a:xfrm>
            <a:off x="548640" y="4078224"/>
            <a:ext cx="11064240" cy="941832"/>
          </a:xfrm>
          <a:prstGeom prst="roundRect">
            <a:avLst>
              <a:gd name="adj" fmla="val 11650"/>
            </a:avLst>
          </a:prstGeom>
          <a:solidFill>
            <a:schemeClr val="bg2"/>
          </a:solidFill>
          <a:ln/>
        </p:spPr>
      </p:sp>
      <p:sp>
        <p:nvSpPr>
          <p:cNvPr id="16" name="Nivel 3"/>
          <p:cNvSpPr/>
          <p:nvPr/>
        </p:nvSpPr>
        <p:spPr>
          <a:xfrm>
            <a:off x="731520" y="4297680"/>
            <a:ext cx="109728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297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Alto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078224"/>
            <a:ext cx="4297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Dados de chamados enviados a IA externa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78224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Bloqueado por padrão (ADR-05)</a:t>
            </a:r>
            <a:endParaRPr lang="en-US" sz="1800" dirty="0"/>
          </a:p>
        </p:txBody>
      </p:sp>
      <p:sp>
        <p:nvSpPr>
          <p:cNvPr id="20" name="Risco 4"/>
          <p:cNvSpPr/>
          <p:nvPr/>
        </p:nvSpPr>
        <p:spPr>
          <a:xfrm>
            <a:off x="548640" y="5157216"/>
            <a:ext cx="11064240" cy="941832"/>
          </a:xfrm>
          <a:prstGeom prst="roundRect">
            <a:avLst>
              <a:gd name="adj" fmla="val 11650"/>
            </a:avLst>
          </a:prstGeom>
          <a:solidFill>
            <a:schemeClr val="bg1"/>
          </a:solidFill>
          <a:ln/>
        </p:spPr>
      </p:sp>
      <p:sp>
        <p:nvSpPr>
          <p:cNvPr id="21" name="Nivel 4"/>
          <p:cNvSpPr/>
          <p:nvPr/>
        </p:nvSpPr>
        <p:spPr>
          <a:xfrm>
            <a:off x="731520" y="5376672"/>
            <a:ext cx="109728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3766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Médio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157216"/>
            <a:ext cx="42976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Fotos passam de 500 GB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157216"/>
            <a:ext cx="4846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Alerta a 80% e plano de migração para MinIO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em três fases</a:t>
            </a:r>
            <a:endParaRPr lang="en-US" sz="4000" dirty="0"/>
          </a:p>
        </p:txBody>
      </p:sp>
      <p:sp>
        <p:nvSpPr>
          <p:cNvPr id="3" name="MVP · Fase 1"/>
          <p:cNvSpPr/>
          <p:nvPr/>
        </p:nvSpPr>
        <p:spPr>
          <a:xfrm>
            <a:off x="5486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MVP · Fase 1 topo"/>
          <p:cNvSpPr/>
          <p:nvPr/>
        </p:nvSpPr>
        <p:spPr>
          <a:xfrm>
            <a:off x="548640" y="155448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5" name="MVP · Fase 1 topo base"/>
          <p:cNvSpPr/>
          <p:nvPr/>
        </p:nvSpPr>
        <p:spPr>
          <a:xfrm>
            <a:off x="548640" y="2651760"/>
            <a:ext cx="3520440" cy="228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MVP · Fase 1 circle"/>
          <p:cNvSpPr/>
          <p:nvPr/>
        </p:nvSpPr>
        <p:spPr>
          <a:xfrm>
            <a:off x="822960" y="17830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MVP · Fase 1 icon" descr="MVP · Fas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00250"/>
            <a:ext cx="434340" cy="4343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6459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MVP · Fase 1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~4 semanas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1546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Detecção automática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Webhook Zabbix → GLPI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Chamados, peças e fotos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LDAP, perfis e backup</a:t>
            </a:r>
            <a:endParaRPr lang="en-US" sz="2000" dirty="0"/>
          </a:p>
        </p:txBody>
      </p:sp>
      <p:sp>
        <p:nvSpPr>
          <p:cNvPr id="10" name="Fase 2 · NetBox"/>
          <p:cNvSpPr/>
          <p:nvPr/>
        </p:nvSpPr>
        <p:spPr>
          <a:xfrm>
            <a:off x="43205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Fase 2 · NetBox topo"/>
          <p:cNvSpPr/>
          <p:nvPr/>
        </p:nvSpPr>
        <p:spPr>
          <a:xfrm>
            <a:off x="4320540" y="155448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2" name="Fase 2 · NetBox topo base"/>
          <p:cNvSpPr/>
          <p:nvPr/>
        </p:nvSpPr>
        <p:spPr>
          <a:xfrm>
            <a:off x="4320540" y="2651760"/>
            <a:ext cx="3520440" cy="2286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Fase 2 · NetBox circle"/>
          <p:cNvSpPr/>
          <p:nvPr/>
        </p:nvSpPr>
        <p:spPr>
          <a:xfrm>
            <a:off x="4594860" y="17830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4" name="Fase 2 · NetBox icon" descr="Fase 2 · Net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030" y="2000250"/>
            <a:ext cx="434340" cy="4343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46420" y="16459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Fase 2 · NetBox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Após MVP estável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4640580" y="31546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Localização rack/U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Inventário único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Mapa do datacenter</a:t>
            </a:r>
            <a:endParaRPr lang="en-US" sz="2000" dirty="0"/>
          </a:p>
        </p:txBody>
      </p:sp>
      <p:sp>
        <p:nvSpPr>
          <p:cNvPr id="17" name="Fase 3 · IA"/>
          <p:cNvSpPr/>
          <p:nvPr/>
        </p:nvSpPr>
        <p:spPr>
          <a:xfrm>
            <a:off x="8092440" y="155448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Fase 3 · IA topo"/>
          <p:cNvSpPr/>
          <p:nvPr/>
        </p:nvSpPr>
        <p:spPr>
          <a:xfrm>
            <a:off x="8092440" y="155448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accent4"/>
          </a:solidFill>
          <a:ln/>
        </p:spPr>
      </p:sp>
      <p:sp>
        <p:nvSpPr>
          <p:cNvPr id="19" name="Fase 3 · IA topo base"/>
          <p:cNvSpPr/>
          <p:nvPr/>
        </p:nvSpPr>
        <p:spPr>
          <a:xfrm>
            <a:off x="8092440" y="2651760"/>
            <a:ext cx="3520440" cy="2286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Fase 3 · IA circle"/>
          <p:cNvSpPr/>
          <p:nvPr/>
        </p:nvSpPr>
        <p:spPr>
          <a:xfrm>
            <a:off x="8366760" y="17830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1" name="Fase 3 · IA icon" descr="Fase 3 · 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000250"/>
            <a:ext cx="434340" cy="4343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418320" y="164592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Fase 3 · IA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 definir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8412480" y="315468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Causa raiz sugerida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Busca em linguagem natural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Só com Ollama local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5"/>
                </a:solidFill>
              </a:rPr>
              <a:t>RESUMO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2880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falha vira um chamado em &lt; 5 s</a:t>
            </a:r>
            <a:endParaRPr lang="en-US" sz="5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1148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Open source, on-premises e sem custo de licença</a:t>
            </a:r>
            <a:endParaRPr lang="en-US" sz="2400" dirty="0"/>
          </a:p>
          <a:p>
            <a:pPr indent="0" marL="0">
              <a:buNone/>
            </a:pPr>
            <a:r>
              <a:rPr lang="en-US" sz="2000" u="sng" dirty="0">
                <a:solidFill>
                  <a:schemeClr val="accent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github.com/douglaslautert/registro-incidentes-datacenter</a:t>
            </a:r>
            <a:endParaRPr lang="en-US" sz="2400" dirty="0"/>
          </a:p>
        </p:txBody>
      </p:sp>
      <p:sp>
        <p:nvSpPr>
          <p:cNvPr id="5" name="Encerramento circle"/>
          <p:cNvSpPr/>
          <p:nvPr/>
        </p:nvSpPr>
        <p:spPr>
          <a:xfrm>
            <a:off x="9052560" y="1920240"/>
            <a:ext cx="2560320" cy="2560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Encerramento icon" descr="Encerramen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25603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center Incidentes">
  <a:themeElements>
    <a:clrScheme name="Datacenter Incidentes">
      <a:dk1>
        <a:srgbClr val="0F1B2D"/>
      </a:dk1>
      <a:lt1>
        <a:srgbClr val="FFFFFF"/>
      </a:lt1>
      <a:dk2>
        <a:srgbClr val="1E3A5F"/>
      </a:dk2>
      <a:lt2>
        <a:srgbClr val="EEF3F7"/>
      </a:lt2>
      <a:accent1>
        <a:srgbClr val="0B8580"/>
      </a:accent1>
      <a:accent2>
        <a:srgbClr val="E8962E"/>
      </a:accent2>
      <a:accent3>
        <a:srgbClr val="C93C3C"/>
      </a:accent3>
      <a:accent4>
        <a:srgbClr val="5B6B82"/>
      </a:accent4>
      <a:accent5>
        <a:srgbClr val="D8F1EE"/>
      </a:accent5>
      <a:accent6>
        <a:srgbClr val="FCEBD0"/>
      </a:accent6>
      <a:hlink>
        <a:srgbClr val="0B8580"/>
      </a:hlink>
      <a:folHlink>
        <a:srgbClr val="1E3A5F"/>
      </a:folHlink>
    </a:clrScheme>
    <a:fontScheme name="Datacenter Incident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de Incidentes do Datacenter — Arquitetura</dc:title>
  <dc:subject>PptxGenJS Presentation</dc:subject>
  <dc:creator>Douglas Lautert</dc:creator>
  <cp:lastModifiedBy>Douglas Lautert</cp:lastModifiedBy>
  <cp:revision>1</cp:revision>
  <dcterms:created xsi:type="dcterms:W3CDTF">2026-10-17T08:06:34Z</dcterms:created>
  <dcterms:modified xsi:type="dcterms:W3CDTF">2026-10-17T08:06:34Z</dcterms:modified>
</cp:coreProperties>
</file>